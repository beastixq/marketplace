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bmst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7478" y="329184"/>
            <a:ext cx="1082842" cy="1143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429000" y="310896"/>
            <a:ext cx="6583680" cy="12344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1600" b="1">
                <a:solidFill>
                  <a:srgbClr val="000000"/>
                </a:solidFill>
                <a:latin typeface="Times New Roman"/>
              </a:defRPr>
            </a:pPr>
            <a:r>
              <a:t>Министерство науки и высшего образования Российской Федерации</a:t>
            </a:r>
            <a:br/>
            <a:r>
              <a:t>Федеральное государственное автономное образовательное учреждение</a:t>
            </a:r>
            <a:br/>
            <a:r>
              <a:t>высшего образования</a:t>
            </a:r>
            <a:br/>
            <a:r>
              <a:t>«Московский государственный технический университет</a:t>
            </a:r>
            <a:br/>
            <a:r>
              <a:t>имени Н.Э. Баумана</a:t>
            </a:r>
            <a:br/>
            <a:r>
              <a:t>(национальный исследовательский университет)»</a:t>
            </a:r>
            <a:br/>
            <a:r>
              <a:t>(МГТУ им. Н.Э. Баумана)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2468880"/>
            <a:ext cx="9692640" cy="10058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3800" b="1">
                <a:solidFill>
                  <a:srgbClr val="000000"/>
                </a:solidFill>
                <a:latin typeface="Times New Roman"/>
              </a:defRPr>
            </a:pPr>
            <a:r>
              <a:t>Разработка базы данных</a:t>
            </a:r>
            <a:br/>
            <a:r>
              <a:t>онлайн-маркетплейса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4800600"/>
            <a:ext cx="7498079" cy="6400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2400" b="0">
                <a:solidFill>
                  <a:srgbClr val="000000"/>
                </a:solidFill>
                <a:latin typeface="Times New Roman"/>
              </a:defRPr>
            </a:pPr>
            <a:r>
              <a:t>Студент: Афанасьев Роман, ИУ7-61Б</a:t>
            </a:r>
            <a:br/>
            <a:r>
              <a:t>Руководитель: Ковтушенко А.П.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6236208"/>
            <a:ext cx="12191695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1800" b="0">
                <a:solidFill>
                  <a:srgbClr val="000000"/>
                </a:solidFill>
                <a:latin typeface="Times New Roman"/>
              </a:defRPr>
            </a:pPr>
            <a:r>
              <a:t>Москва, 2026 г.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6556248"/>
            <a:ext cx="12191695" cy="1645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1000" b="0">
                <a:solidFill>
                  <a:srgbClr val="5A5A5A"/>
                </a:solidFill>
                <a:latin typeface="Times New Roman"/>
              </a:defRPr>
            </a:pPr>
            <a: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1155680" cy="53035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3200" b="0">
                <a:solidFill>
                  <a:srgbClr val="000000"/>
                </a:solidFill>
                <a:latin typeface="Times New Roman"/>
              </a:defRPr>
            </a:pPr>
            <a:r>
              <a:t>Актуальность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444752"/>
            <a:ext cx="1078992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2200" b="0">
                <a:solidFill>
                  <a:srgbClr val="000000"/>
                </a:solidFill>
                <a:latin typeface="Times New Roman"/>
              </a:defRPr>
            </a:pPr>
            <a:r>
              <a:t>Для сравнения с существующими решениями были выбраны следующие критерии: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828800"/>
            <a:ext cx="5486400" cy="2057400"/>
          </a:xfrm>
          <a:prstGeom prst="rect">
            <a:avLst/>
          </a:prstGeom>
          <a:noFill/>
        </p:spPr>
        <p:txBody>
          <a:bodyPr wrap="square" lIns="45720" rIns="27432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Times New Roman"/>
              </a:defRPr>
            </a:pPr>
            <a:r>
              <a:t>• открытость модели данных;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Times New Roman"/>
              </a:defRPr>
            </a:pPr>
            <a:r>
              <a:t>• хранение истории изменения цен товара;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Times New Roman"/>
              </a:defRPr>
            </a:pPr>
            <a:r>
              <a:t>• наличие встроенной аналитики продаж;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Times New Roman"/>
              </a:defRPr>
            </a:pPr>
            <a:r>
              <a:t>• раздельные рейтинги товара и продавца;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Times New Roman"/>
              </a:defRPr>
            </a:pPr>
            <a:r>
              <a:t>• выделенная роль аналитика только для чтения;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Times New Roman"/>
              </a:defRPr>
            </a:pPr>
            <a:r>
              <a:t>• наличие логистики в предметной области.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355080" y="1609344"/>
          <a:ext cx="507492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200"/>
                <a:gridCol w="713232"/>
                <a:gridCol w="685800"/>
                <a:gridCol w="1005840"/>
                <a:gridCol w="1069848"/>
              </a:tblGrid>
              <a:tr h="391885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00000"/>
                          </a:solidFill>
                          <a:latin typeface="Times New Roman"/>
                        </a:rPr>
                        <a:t>Критерий</a:t>
                      </a:r>
                    </a:p>
                  </a:txBody>
                  <a:tcPr marL="36576" marR="36576" marT="18288" marB="18288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00000"/>
                          </a:solidFill>
                          <a:latin typeface="Times New Roman"/>
                        </a:rPr>
                        <a:t>Ozon</a:t>
                      </a:r>
                    </a:p>
                  </a:txBody>
                  <a:tcPr marL="36576" marR="36576" marT="18288" marB="18288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00000"/>
                          </a:solidFill>
                          <a:latin typeface="Times New Roman"/>
                        </a:rPr>
                        <a:t>WB</a:t>
                      </a:r>
                    </a:p>
                  </a:txBody>
                  <a:tcPr marL="36576" marR="36576" marT="18288" marB="18288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00000"/>
                          </a:solidFill>
                          <a:latin typeface="Times New Roman"/>
                        </a:rPr>
                        <a:t>AliExpress</a:t>
                      </a:r>
                    </a:p>
                  </a:txBody>
                  <a:tcPr marL="36576" marR="36576" marT="18288" marB="18288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00000"/>
                          </a:solidFill>
                          <a:latin typeface="Times New Roman"/>
                        </a:rPr>
                        <a:t>Система</a:t>
                      </a:r>
                    </a:p>
                  </a:txBody>
                  <a:tcPr marL="36576" marR="36576" marT="18288" marB="18288">
                    <a:solidFill>
                      <a:srgbClr val="F5F5F5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Times New Roman"/>
                        </a:rPr>
                        <a:t>Открытость модели данных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Times New Roman"/>
                        </a:rPr>
                        <a:t>нет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Times New Roman"/>
                        </a:rPr>
                        <a:t>нет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Times New Roman"/>
                        </a:rPr>
                        <a:t>нет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Times New Roman"/>
                        </a:rPr>
                        <a:t>да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Times New Roman"/>
                        </a:rPr>
                        <a:t>История цен товара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Times New Roman"/>
                        </a:rPr>
                        <a:t>не раскрывается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Times New Roman"/>
                        </a:rPr>
                        <a:t>не раскрывается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Times New Roman"/>
                        </a:rPr>
                        <a:t>не раскрывается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Times New Roman"/>
                        </a:rPr>
                        <a:t>да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Times New Roman"/>
                        </a:rPr>
                        <a:t>Встроенная аналитика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Times New Roman"/>
                        </a:rPr>
                        <a:t>частично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Times New Roman"/>
                        </a:rPr>
                        <a:t>да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Times New Roman"/>
                        </a:rPr>
                        <a:t>да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Times New Roman"/>
                        </a:rPr>
                        <a:t>да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Times New Roman"/>
                        </a:rPr>
                        <a:t>Рейтинг товара и продавца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Times New Roman"/>
                        </a:rPr>
                        <a:t>да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Times New Roman"/>
                        </a:rPr>
                        <a:t>да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Times New Roman"/>
                        </a:rPr>
                        <a:t>да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Times New Roman"/>
                        </a:rPr>
                        <a:t>да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Times New Roman"/>
                        </a:rPr>
                        <a:t>Роль аналитика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Times New Roman"/>
                        </a:rPr>
                        <a:t>не указана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Times New Roman"/>
                        </a:rPr>
                        <a:t>не указана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Times New Roman"/>
                        </a:rPr>
                        <a:t>не указана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Times New Roman"/>
                        </a:rPr>
                        <a:t>да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39189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Times New Roman"/>
                        </a:rPr>
                        <a:t>Логистика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Times New Roman"/>
                        </a:rPr>
                        <a:t>да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Times New Roman"/>
                        </a:rPr>
                        <a:t>да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Times New Roman"/>
                        </a:rPr>
                        <a:t>да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Times New Roman"/>
                        </a:rPr>
                        <a:t>нет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58368" y="4800600"/>
            <a:ext cx="10789920" cy="7315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2100" b="0">
                <a:solidFill>
                  <a:srgbClr val="000000"/>
                </a:solidFill>
                <a:latin typeface="Times New Roman"/>
              </a:defRPr>
            </a:pPr>
            <a:r>
              <a:t>Рассмотренные платформы являются закрытыми коммерческими системами. В проектируемой системе отдельно рассматриваются модель данных, история изменения цен и роль аналитика.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6556248"/>
            <a:ext cx="12191695" cy="1645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1000" b="0">
                <a:solidFill>
                  <a:srgbClr val="5A5A5A"/>
                </a:solidFill>
                <a:latin typeface="Times New Roman"/>
              </a:defRPr>
            </a:pPr>
            <a: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1155680" cy="53035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3200" b="0">
                <a:solidFill>
                  <a:srgbClr val="000000"/>
                </a:solidFill>
                <a:latin typeface="Times New Roman"/>
              </a:defRPr>
            </a:pPr>
            <a:r>
              <a:t>Цель и задачи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1417320"/>
            <a:ext cx="10698480" cy="4114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2300" b="0">
                <a:solidFill>
                  <a:srgbClr val="000000"/>
                </a:solidFill>
                <a:latin typeface="Times New Roman"/>
              </a:defRPr>
            </a:pPr>
            <a:r>
              <a:t>Цель: разработать базу данных онлайн-маркетплейса и приложение доступа к ней.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057400"/>
            <a:ext cx="105156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2200">
                <a:solidFill>
                  <a:srgbClr val="000000"/>
                </a:solidFill>
                <a:latin typeface="Times New Roman"/>
              </a:defRPr>
            </a:pPr>
            <a:r>
              <a:t>1. провести анализ предметной области и существующих решений;</a:t>
            </a:r>
          </a:p>
          <a:p>
            <a:pPr>
              <a:spcAft>
                <a:spcPts val="500"/>
              </a:spcAft>
              <a:defRPr sz="2200">
                <a:solidFill>
                  <a:srgbClr val="000000"/>
                </a:solidFill>
                <a:latin typeface="Times New Roman"/>
              </a:defRPr>
            </a:pPr>
            <a:r>
              <a:t>2. выделить роли пользователей, сценарии взаимодействия, сущности и связи;</a:t>
            </a:r>
          </a:p>
          <a:p>
            <a:pPr>
              <a:spcAft>
                <a:spcPts val="500"/>
              </a:spcAft>
              <a:defRPr sz="2200">
                <a:solidFill>
                  <a:srgbClr val="000000"/>
                </a:solidFill>
                <a:latin typeface="Times New Roman"/>
              </a:defRPr>
            </a:pPr>
            <a:r>
              <a:t>3. спроектировать схему БД, ограничения целостности, роли, триггеры и хранимую функцию;</a:t>
            </a:r>
          </a:p>
          <a:p>
            <a:pPr>
              <a:spcAft>
                <a:spcPts val="500"/>
              </a:spcAft>
              <a:defRPr sz="2200">
                <a:solidFill>
                  <a:srgbClr val="000000"/>
                </a:solidFill>
                <a:latin typeface="Times New Roman"/>
              </a:defRPr>
            </a:pPr>
            <a:r>
              <a:t>4. реализовать БД, Redis-кэширование и интерфейс доступа к данным;</a:t>
            </a:r>
          </a:p>
          <a:p>
            <a:pPr>
              <a:spcAft>
                <a:spcPts val="500"/>
              </a:spcAft>
              <a:defRPr sz="2200">
                <a:solidFill>
                  <a:srgbClr val="000000"/>
                </a:solidFill>
                <a:latin typeface="Times New Roman"/>
              </a:defRPr>
            </a:pPr>
            <a:r>
              <a:t>5. исследовать влияние индексов PostgreSQL и Redis-кэша на показатели доступа к данным.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6556248"/>
            <a:ext cx="12191695" cy="1645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1000" b="0">
                <a:solidFill>
                  <a:srgbClr val="5A5A5A"/>
                </a:solidFill>
                <a:latin typeface="Times New Roman"/>
              </a:defRPr>
            </a:pPr>
            <a: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1155680" cy="53035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3200" b="0">
                <a:solidFill>
                  <a:srgbClr val="000000"/>
                </a:solidFill>
                <a:latin typeface="Times New Roman"/>
              </a:defRPr>
            </a:pPr>
            <a:r>
              <a:t>Границы проектируемой системы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417320"/>
            <a:ext cx="3520440" cy="1234440"/>
          </a:xfrm>
          <a:prstGeom prst="rect">
            <a:avLst/>
          </a:prstGeom>
          <a:noFill/>
          <a:ln w="12700"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90472"/>
            <a:ext cx="33375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1800" b="1">
                <a:solidFill>
                  <a:srgbClr val="000000"/>
                </a:solidFill>
                <a:latin typeface="Times New Roman"/>
              </a:defRPr>
            </a:pPr>
            <a:r>
              <a:t>Данные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3337560" cy="75895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1600" b="0">
                <a:solidFill>
                  <a:srgbClr val="000000"/>
                </a:solidFill>
                <a:latin typeface="Times New Roman"/>
              </a:defRPr>
            </a:pPr>
            <a:r>
              <a:t>пользователи, продавцы, товары, категории, заказы, позиции заказов, адреса, отзывы, история изменения цен</a:t>
            </a:r>
          </a:p>
        </p:txBody>
      </p:sp>
      <p:sp>
        <p:nvSpPr>
          <p:cNvPr id="8" name="Rectangle 7"/>
          <p:cNvSpPr/>
          <p:nvPr/>
        </p:nvSpPr>
        <p:spPr>
          <a:xfrm>
            <a:off x="4434840" y="1417320"/>
            <a:ext cx="3291840" cy="1234440"/>
          </a:xfrm>
          <a:prstGeom prst="rect">
            <a:avLst/>
          </a:prstGeom>
          <a:noFill/>
          <a:ln w="12700"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6279" y="1490472"/>
            <a:ext cx="31089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1800" b="1">
                <a:solidFill>
                  <a:srgbClr val="000000"/>
                </a:solidFill>
                <a:latin typeface="Times New Roman"/>
              </a:defRPr>
            </a:pPr>
            <a:r>
              <a:t>Сценарии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6279" y="1828800"/>
            <a:ext cx="3108960" cy="75895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1600" b="0">
                <a:solidFill>
                  <a:srgbClr val="000000"/>
                </a:solidFill>
                <a:latin typeface="Times New Roman"/>
              </a:defRPr>
            </a:pPr>
            <a:r>
              <a:t>просмотр каталога, управление товарами, оформление заказов, отзывы, администрирование, отчёты продаж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55279" y="1417320"/>
            <a:ext cx="3520440" cy="1234440"/>
          </a:xfrm>
          <a:prstGeom prst="rect">
            <a:avLst/>
          </a:prstGeom>
          <a:noFill/>
          <a:ln w="12700"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19" y="1490472"/>
            <a:ext cx="33375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1800" b="1">
                <a:solidFill>
                  <a:srgbClr val="000000"/>
                </a:solidFill>
                <a:latin typeface="Times New Roman"/>
              </a:defRPr>
            </a:pPr>
            <a:r>
              <a:t>Не рассматривается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19" y="1828800"/>
            <a:ext cx="3337560" cy="75895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1600" b="0">
                <a:solidFill>
                  <a:srgbClr val="000000"/>
                </a:solidFill>
                <a:latin typeface="Times New Roman"/>
              </a:defRPr>
            </a:pPr>
            <a:r>
              <a:t>логистика, курьеры, маршруты, графики складов и события фактической передачи товара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291840"/>
            <a:ext cx="10241280" cy="2011680"/>
          </a:xfrm>
          <a:prstGeom prst="rect">
            <a:avLst/>
          </a:prstGeom>
          <a:noFill/>
        </p:spPr>
        <p:txBody>
          <a:bodyPr wrap="square" lIns="45720" rIns="27432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  <a:defRPr sz="2200">
                <a:solidFill>
                  <a:srgbClr val="000000"/>
                </a:solidFill>
                <a:latin typeface="Times New Roman"/>
              </a:defRPr>
            </a:pPr>
            <a:r>
              <a:t>• Для хранения данных выбрана реляционная модель.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2200">
                <a:solidFill>
                  <a:srgbClr val="000000"/>
                </a:solidFill>
                <a:latin typeface="Times New Roman"/>
              </a:defRPr>
            </a:pPr>
            <a:r>
              <a:t>• Состояние исполнения заказа фиксируется статусами заказа.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2200">
                <a:solidFill>
                  <a:srgbClr val="000000"/>
                </a:solidFill>
                <a:latin typeface="Times New Roman"/>
              </a:defRPr>
            </a:pPr>
            <a:r>
              <a:t>• Количество товара относится к данным товара, которыми управляет продавец.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2200">
                <a:solidFill>
                  <a:srgbClr val="000000"/>
                </a:solidFill>
                <a:latin typeface="Times New Roman"/>
              </a:defRPr>
            </a:pPr>
            <a:r>
              <a:t>• Резерв товара изменяется при обработке заказа.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6556248"/>
            <a:ext cx="12191695" cy="1645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1000" b="0">
                <a:solidFill>
                  <a:srgbClr val="5A5A5A"/>
                </a:solidFill>
                <a:latin typeface="Times New Roman"/>
              </a:defRPr>
            </a:pPr>
            <a:r>
              <a:t>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1155680" cy="53035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3200" b="0">
                <a:solidFill>
                  <a:srgbClr val="000000"/>
                </a:solidFill>
                <a:latin typeface="Times New Roman"/>
              </a:defRPr>
            </a:pPr>
            <a:r>
              <a:t>Роли пользователей и сценарии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508760"/>
            <a:ext cx="3886200" cy="3291840"/>
          </a:xfrm>
          <a:prstGeom prst="rect">
            <a:avLst/>
          </a:prstGeom>
          <a:noFill/>
        </p:spPr>
        <p:txBody>
          <a:bodyPr wrap="square" lIns="45720" rIns="27432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  <a:defRPr sz="1800">
                <a:solidFill>
                  <a:srgbClr val="000000"/>
                </a:solidFill>
                <a:latin typeface="Times New Roman"/>
              </a:defRPr>
            </a:pPr>
            <a:r>
              <a:t>• гость — просмотр каталога и карточек товаров;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800">
                <a:solidFill>
                  <a:srgbClr val="000000"/>
                </a:solidFill>
                <a:latin typeface="Times New Roman"/>
              </a:defRPr>
            </a:pPr>
            <a:r>
              <a:t>• покупатель — заказы, адреса и отзывы;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800">
                <a:solidFill>
                  <a:srgbClr val="000000"/>
                </a:solidFill>
                <a:latin typeface="Times New Roman"/>
              </a:defRPr>
            </a:pPr>
            <a:r>
              <a:t>• продавец — товары, заказы продавца и статистика;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800">
                <a:solidFill>
                  <a:srgbClr val="000000"/>
                </a:solidFill>
                <a:latin typeface="Times New Roman"/>
              </a:defRPr>
            </a:pPr>
            <a:r>
              <a:t>• администратор — модерация пользователей, товаров, категорий, отзывов и заказов;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800">
                <a:solidFill>
                  <a:srgbClr val="000000"/>
                </a:solidFill>
                <a:latin typeface="Times New Roman"/>
              </a:defRPr>
            </a:pPr>
            <a:r>
              <a:t>• аналитик — чтение данных и формирование отчётов.</a:t>
            </a:r>
          </a:p>
        </p:txBody>
      </p:sp>
      <p:pic>
        <p:nvPicPr>
          <p:cNvPr id="6" name="Picture 5" descr="UseCas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9179" y="1078992"/>
            <a:ext cx="4317921" cy="54406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6556248"/>
            <a:ext cx="12191695" cy="1645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1000" b="0">
                <a:solidFill>
                  <a:srgbClr val="5A5A5A"/>
                </a:solidFill>
                <a:latin typeface="Times New Roman"/>
              </a:defRPr>
            </a:pPr>
            <a:r>
              <a:t>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1155680" cy="53035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3200" b="0">
                <a:solidFill>
                  <a:srgbClr val="000000"/>
                </a:solidFill>
                <a:latin typeface="Times New Roman"/>
              </a:defRPr>
            </a:pPr>
            <a:r>
              <a:t>Диаграмма сущность-связь в нотации Чена</a:t>
            </a:r>
          </a:p>
        </p:txBody>
      </p:sp>
      <p:pic>
        <p:nvPicPr>
          <p:cNvPr id="5" name="Picture 4" descr="ER_Ch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0779" y="1143000"/>
            <a:ext cx="6345680" cy="528523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6556248"/>
            <a:ext cx="12191695" cy="1645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1000" b="0">
                <a:solidFill>
                  <a:srgbClr val="5A5A5A"/>
                </a:solidFill>
                <a:latin typeface="Times New Roman"/>
              </a:defRPr>
            </a:pPr>
            <a:r>
              <a:t>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1155680" cy="53035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3200" b="0">
                <a:solidFill>
                  <a:srgbClr val="000000"/>
                </a:solidFill>
                <a:latin typeface="Times New Roman"/>
              </a:defRPr>
            </a:pPr>
            <a:r>
              <a:t>Схема базы данных</a:t>
            </a:r>
          </a:p>
        </p:txBody>
      </p:sp>
      <p:pic>
        <p:nvPicPr>
          <p:cNvPr id="5" name="Picture 4" descr="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0183" y="1024128"/>
            <a:ext cx="3777633" cy="550468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92240" y="1508760"/>
            <a:ext cx="4663440" cy="3108960"/>
          </a:xfrm>
          <a:prstGeom prst="rect">
            <a:avLst/>
          </a:prstGeom>
          <a:noFill/>
        </p:spPr>
        <p:txBody>
          <a:bodyPr wrap="square" lIns="45720" rIns="27432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Times New Roman"/>
              </a:defRPr>
            </a:pPr>
            <a:r>
              <a:t>• схема содержит 10 таблиц основной предметной области;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Times New Roman"/>
              </a:defRPr>
            </a:pPr>
            <a:r>
              <a:t>• связь многие-ко-многим между товарами и категориями вынесена в product_categories;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Times New Roman"/>
              </a:defRPr>
            </a:pPr>
            <a:r>
              <a:t>• корзина представлена заказом со статусом draft;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Times New Roman"/>
              </a:defRPr>
            </a:pPr>
            <a:r>
              <a:t>• история изменения цен хранится отдельно от текущей цены товара;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2000">
                <a:solidFill>
                  <a:srgbClr val="000000"/>
                </a:solidFill>
                <a:latin typeface="Times New Roman"/>
              </a:defRPr>
            </a:pPr>
            <a:r>
              <a:t>• схема приведена к третьей нормальной форме.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6556248"/>
            <a:ext cx="12191695" cy="1645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1000" b="0">
                <a:solidFill>
                  <a:srgbClr val="5A5A5A"/>
                </a:solidFill>
                <a:latin typeface="Times New Roman"/>
              </a:defRPr>
            </a:pPr>
            <a:r>
              <a:t>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1155680" cy="53035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3200" b="0">
                <a:solidFill>
                  <a:srgbClr val="000000"/>
                </a:solidFill>
                <a:latin typeface="Times New Roman"/>
              </a:defRPr>
            </a:pPr>
            <a:r>
              <a:t>Ограничения целостности и индексы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77240" y="1417320"/>
          <a:ext cx="10652760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8823960"/>
              </a:tblGrid>
              <a:tr h="561702"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000000"/>
                          </a:solidFill>
                          <a:latin typeface="Times New Roman"/>
                        </a:rPr>
                        <a:t>Группа</a:t>
                      </a:r>
                    </a:p>
                  </a:txBody>
                  <a:tcPr marL="36576" marR="36576" marT="18288" marB="18288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000000"/>
                          </a:solidFill>
                          <a:latin typeface="Times New Roman"/>
                        </a:rPr>
                        <a:t>Пример</a:t>
                      </a:r>
                    </a:p>
                  </a:txBody>
                  <a:tcPr marL="36576" marR="36576" marT="18288" marB="18288">
                    <a:solidFill>
                      <a:srgbClr val="F5F5F5"/>
                    </a:solidFill>
                  </a:tcPr>
                </a:tc>
              </a:tr>
              <a:tr h="561702"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000000"/>
                          </a:solidFill>
                          <a:latin typeface="Times New Roman"/>
                        </a:rPr>
                        <a:t>Заказы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000000"/>
                          </a:solidFill>
                          <a:latin typeface="Times New Roman"/>
                        </a:rPr>
                        <a:t>одна draft-корзина на покупателя; price_at_purchase фиксируется при оформлении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561702"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000000"/>
                          </a:solidFill>
                          <a:latin typeface="Times New Roman"/>
                        </a:rPr>
                        <a:t>Остатки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000000"/>
                          </a:solidFill>
                          <a:latin typeface="Times New Roman"/>
                        </a:rPr>
                        <a:t>reserved_quantity &gt;= 0 и reserved_quantity &lt;= stock_quantity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561702"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000000"/>
                          </a:solidFill>
                          <a:latin typeface="Times New Roman"/>
                        </a:rPr>
                        <a:t>Отзывы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000000"/>
                          </a:solidFill>
                          <a:latin typeface="Times New Roman"/>
                        </a:rPr>
                        <a:t>один отзыв покупателя на товар; рейтинг в диапазоне 1..5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561702"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000000"/>
                          </a:solidFill>
                          <a:latin typeface="Times New Roman"/>
                        </a:rPr>
                        <a:t>История цен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000000"/>
                          </a:solidFill>
                          <a:latin typeface="Times New Roman"/>
                        </a:rPr>
                        <a:t>триггер записывает старую и новую цену, время и инициатора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561702"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000000"/>
                          </a:solidFill>
                          <a:latin typeface="Times New Roman"/>
                        </a:rPr>
                        <a:t>Рейтинги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000000"/>
                          </a:solidFill>
                          <a:latin typeface="Times New Roman"/>
                        </a:rPr>
                        <a:t>при изменении отзыва пересчитываются рейтинги товара и продавца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561708"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000000"/>
                          </a:solidFill>
                          <a:latin typeface="Times New Roman"/>
                        </a:rPr>
                        <a:t>Индексы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000000"/>
                          </a:solidFill>
                          <a:latin typeface="Times New Roman"/>
                        </a:rPr>
                        <a:t>выборка заказов, отзывов, товаров продавца, активных записей и фильтрация по цене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77240" y="5623560"/>
            <a:ext cx="1051560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2100" b="0">
                <a:solidFill>
                  <a:srgbClr val="000000"/>
                </a:solidFill>
                <a:latin typeface="Times New Roman"/>
              </a:defRPr>
            </a:pPr>
            <a:r>
              <a:t>Ограничения защищают данные от некорректных состояний; индексы влияют только на время доступа.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6556248"/>
            <a:ext cx="12191695" cy="1645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1000" b="0">
                <a:solidFill>
                  <a:srgbClr val="5A5A5A"/>
                </a:solidFill>
                <a:latin typeface="Times New Roman"/>
              </a:defRPr>
            </a:pPr>
            <a:r>
              <a:t>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1155680" cy="53035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3200" b="0">
                <a:solidFill>
                  <a:srgbClr val="000000"/>
                </a:solidFill>
                <a:latin typeface="Times New Roman"/>
              </a:defRPr>
            </a:pPr>
            <a:r>
              <a:t>Ролевая модель базы данных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68680" y="1234440"/>
          <a:ext cx="886968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63240"/>
                <a:gridCol w="1417320"/>
                <a:gridCol w="1417320"/>
                <a:gridCol w="1417320"/>
                <a:gridCol w="1554480"/>
              </a:tblGrid>
              <a:tr h="390698"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000000"/>
                          </a:solidFill>
                          <a:latin typeface="Times New Roman"/>
                        </a:rPr>
                        <a:t>Таблица</a:t>
                      </a:r>
                    </a:p>
                  </a:txBody>
                  <a:tcPr marL="36576" marR="36576" marT="18288" marB="18288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000000"/>
                          </a:solidFill>
                          <a:latin typeface="Times New Roman"/>
                        </a:rPr>
                        <a:t>buyer</a:t>
                      </a:r>
                    </a:p>
                  </a:txBody>
                  <a:tcPr marL="36576" marR="36576" marT="18288" marB="18288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000000"/>
                          </a:solidFill>
                          <a:latin typeface="Times New Roman"/>
                        </a:rPr>
                        <a:t>seller</a:t>
                      </a:r>
                    </a:p>
                  </a:txBody>
                  <a:tcPr marL="36576" marR="36576" marT="18288" marB="18288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000000"/>
                          </a:solidFill>
                          <a:latin typeface="Times New Roman"/>
                        </a:rPr>
                        <a:t>admin</a:t>
                      </a:r>
                    </a:p>
                  </a:txBody>
                  <a:tcPr marL="36576" marR="36576" marT="18288" marB="18288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000000"/>
                          </a:solidFill>
                          <a:latin typeface="Times New Roman"/>
                        </a:rPr>
                        <a:t>analyst</a:t>
                      </a:r>
                    </a:p>
                  </a:txBody>
                  <a:tcPr marL="36576" marR="36576" marT="18288" marB="18288">
                    <a:solidFill>
                      <a:srgbClr val="F5F5F5"/>
                    </a:solidFill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000000"/>
                          </a:solidFill>
                          <a:latin typeface="Times New Roman"/>
                        </a:rPr>
                        <a:t>users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000000"/>
                          </a:solidFill>
                          <a:latin typeface="Times New Roman"/>
                        </a:rPr>
                        <a:t>—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000000"/>
                          </a:solidFill>
                          <a:latin typeface="Times New Roman"/>
                        </a:rPr>
                        <a:t>—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000000"/>
                          </a:solidFill>
                          <a:latin typeface="Times New Roman"/>
                        </a:rPr>
                        <a:t>CRUD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000000"/>
                          </a:solidFill>
                          <a:latin typeface="Times New Roman"/>
                        </a:rPr>
                        <a:t>R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000000"/>
                          </a:solidFill>
                          <a:latin typeface="Times New Roman"/>
                        </a:rPr>
                        <a:t>sellers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000000"/>
                          </a:solidFill>
                          <a:latin typeface="Times New Roman"/>
                        </a:rPr>
                        <a:t>R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000000"/>
                          </a:solidFill>
                          <a:latin typeface="Times New Roman"/>
                        </a:rPr>
                        <a:t>CRUD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000000"/>
                          </a:solidFill>
                          <a:latin typeface="Times New Roman"/>
                        </a:rPr>
                        <a:t>CRUD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000000"/>
                          </a:solidFill>
                          <a:latin typeface="Times New Roman"/>
                        </a:rPr>
                        <a:t>R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000000"/>
                          </a:solidFill>
                          <a:latin typeface="Times New Roman"/>
                        </a:rPr>
                        <a:t>products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000000"/>
                          </a:solidFill>
                          <a:latin typeface="Times New Roman"/>
                        </a:rPr>
                        <a:t>R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000000"/>
                          </a:solidFill>
                          <a:latin typeface="Times New Roman"/>
                        </a:rPr>
                        <a:t>CRUD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000000"/>
                          </a:solidFill>
                          <a:latin typeface="Times New Roman"/>
                        </a:rPr>
                        <a:t>CRUD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000000"/>
                          </a:solidFill>
                          <a:latin typeface="Times New Roman"/>
                        </a:rPr>
                        <a:t>R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000000"/>
                          </a:solidFill>
                          <a:latin typeface="Times New Roman"/>
                        </a:rPr>
                        <a:t>categories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000000"/>
                          </a:solidFill>
                          <a:latin typeface="Times New Roman"/>
                        </a:rPr>
                        <a:t>R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000000"/>
                          </a:solidFill>
                          <a:latin typeface="Times New Roman"/>
                        </a:rPr>
                        <a:t>R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000000"/>
                          </a:solidFill>
                          <a:latin typeface="Times New Roman"/>
                        </a:rPr>
                        <a:t>CRUD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000000"/>
                          </a:solidFill>
                          <a:latin typeface="Times New Roman"/>
                        </a:rPr>
                        <a:t>R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000000"/>
                          </a:solidFill>
                          <a:latin typeface="Times New Roman"/>
                        </a:rPr>
                        <a:t>product_categories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000000"/>
                          </a:solidFill>
                          <a:latin typeface="Times New Roman"/>
                        </a:rPr>
                        <a:t>R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000000"/>
                          </a:solidFill>
                          <a:latin typeface="Times New Roman"/>
                        </a:rPr>
                        <a:t>CRUD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000000"/>
                          </a:solidFill>
                          <a:latin typeface="Times New Roman"/>
                        </a:rPr>
                        <a:t>CRUD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000000"/>
                          </a:solidFill>
                          <a:latin typeface="Times New Roman"/>
                        </a:rPr>
                        <a:t>R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000000"/>
                          </a:solidFill>
                          <a:latin typeface="Times New Roman"/>
                        </a:rPr>
                        <a:t>addresses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000000"/>
                          </a:solidFill>
                          <a:latin typeface="Times New Roman"/>
                        </a:rPr>
                        <a:t>CRUD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000000"/>
                          </a:solidFill>
                          <a:latin typeface="Times New Roman"/>
                        </a:rPr>
                        <a:t>—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000000"/>
                          </a:solidFill>
                          <a:latin typeface="Times New Roman"/>
                        </a:rPr>
                        <a:t>CRUD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000000"/>
                          </a:solidFill>
                          <a:latin typeface="Times New Roman"/>
                        </a:rPr>
                        <a:t>R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000000"/>
                          </a:solidFill>
                          <a:latin typeface="Times New Roman"/>
                        </a:rPr>
                        <a:t>orders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000000"/>
                          </a:solidFill>
                          <a:latin typeface="Times New Roman"/>
                        </a:rPr>
                        <a:t>CRUD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000000"/>
                          </a:solidFill>
                          <a:latin typeface="Times New Roman"/>
                        </a:rPr>
                        <a:t>RU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000000"/>
                          </a:solidFill>
                          <a:latin typeface="Times New Roman"/>
                        </a:rPr>
                        <a:t>CRUD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000000"/>
                          </a:solidFill>
                          <a:latin typeface="Times New Roman"/>
                        </a:rPr>
                        <a:t>R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000000"/>
                          </a:solidFill>
                          <a:latin typeface="Times New Roman"/>
                        </a:rPr>
                        <a:t>order_items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000000"/>
                          </a:solidFill>
                          <a:latin typeface="Times New Roman"/>
                        </a:rPr>
                        <a:t>CRUD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000000"/>
                          </a:solidFill>
                          <a:latin typeface="Times New Roman"/>
                        </a:rPr>
                        <a:t>R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000000"/>
                          </a:solidFill>
                          <a:latin typeface="Times New Roman"/>
                        </a:rPr>
                        <a:t>CRUD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000000"/>
                          </a:solidFill>
                          <a:latin typeface="Times New Roman"/>
                        </a:rPr>
                        <a:t>R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000000"/>
                          </a:solidFill>
                          <a:latin typeface="Times New Roman"/>
                        </a:rPr>
                        <a:t>reviews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000000"/>
                          </a:solidFill>
                          <a:latin typeface="Times New Roman"/>
                        </a:rPr>
                        <a:t>CRUD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000000"/>
                          </a:solidFill>
                          <a:latin typeface="Times New Roman"/>
                        </a:rPr>
                        <a:t>R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000000"/>
                          </a:solidFill>
                          <a:latin typeface="Times New Roman"/>
                        </a:rPr>
                        <a:t>CRUD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000000"/>
                          </a:solidFill>
                          <a:latin typeface="Times New Roman"/>
                        </a:rPr>
                        <a:t>R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390700"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000000"/>
                          </a:solidFill>
                          <a:latin typeface="Times New Roman"/>
                        </a:rPr>
                        <a:t>product_price_history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000000"/>
                          </a:solidFill>
                          <a:latin typeface="Times New Roman"/>
                        </a:rPr>
                        <a:t>R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000000"/>
                          </a:solidFill>
                          <a:latin typeface="Times New Roman"/>
                        </a:rPr>
                        <a:t>R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000000"/>
                          </a:solidFill>
                          <a:latin typeface="Times New Roman"/>
                        </a:rPr>
                        <a:t>CRUD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000000"/>
                          </a:solidFill>
                          <a:latin typeface="Times New Roman"/>
                        </a:rPr>
                        <a:t>R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68680" y="5715000"/>
            <a:ext cx="1014984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1800" b="0">
                <a:solidFill>
                  <a:srgbClr val="000000"/>
                </a:solidFill>
                <a:latin typeface="Times New Roman"/>
              </a:defRPr>
            </a:pPr>
            <a:r>
              <a:t>C — INSERT, R — SELECT, U — UPDATE, D — DELETE. Ограничения «только свои записи» проверяются приложением.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6556248"/>
            <a:ext cx="12191695" cy="1645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1000" b="0">
                <a:solidFill>
                  <a:srgbClr val="5A5A5A"/>
                </a:solidFill>
                <a:latin typeface="Times New Roman"/>
              </a:defRPr>
            </a:pPr>
            <a: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1155680" cy="53035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3200" b="0">
                <a:solidFill>
                  <a:srgbClr val="000000"/>
                </a:solidFill>
                <a:latin typeface="Times New Roman"/>
              </a:defRPr>
            </a:pPr>
            <a:r>
              <a:t>Триггеры и хранимая функция</a:t>
            </a:r>
          </a:p>
        </p:txBody>
      </p:sp>
      <p:pic>
        <p:nvPicPr>
          <p:cNvPr id="5" name="Picture 4" descr="trigger_catch_price_ch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367406"/>
            <a:ext cx="2926080" cy="2614426"/>
          </a:xfrm>
          <a:prstGeom prst="rect">
            <a:avLst/>
          </a:prstGeom>
        </p:spPr>
      </p:pic>
      <p:pic>
        <p:nvPicPr>
          <p:cNvPr id="6" name="Picture 5" descr="trigger_update_ratings_on_re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18674" y="1234440"/>
            <a:ext cx="2861131" cy="28346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223760" y="1417320"/>
            <a:ext cx="4114800" cy="3200400"/>
          </a:xfrm>
          <a:prstGeom prst="rect">
            <a:avLst/>
          </a:prstGeom>
          <a:noFill/>
        </p:spPr>
        <p:txBody>
          <a:bodyPr wrap="square" lIns="45720" rIns="27432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  <a:defRPr sz="1700">
                <a:solidFill>
                  <a:srgbClr val="000000"/>
                </a:solidFill>
                <a:latin typeface="Times New Roman"/>
              </a:defRPr>
            </a:pPr>
            <a:r>
              <a:t>• catch_price_change формирует журнал изменения цен товара;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700">
                <a:solidFill>
                  <a:srgbClr val="000000"/>
                </a:solidFill>
                <a:latin typeface="Times New Roman"/>
              </a:defRPr>
            </a:pPr>
            <a:r>
              <a:t>• update_ratings_on_review поддерживает согласованность рейтингов товара и продавца;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700">
                <a:solidFill>
                  <a:srgbClr val="000000"/>
                </a:solidFill>
                <a:latin typeface="Times New Roman"/>
              </a:defRPr>
            </a:pPr>
            <a:r>
              <a:t>• get_seller_statistics принимает продавца и период, возвращает количество заказов, выручку, средний чек и самый продаваемый товар;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700">
                <a:solidFill>
                  <a:srgbClr val="000000"/>
                </a:solidFill>
                <a:latin typeface="Times New Roman"/>
              </a:defRPr>
            </a:pPr>
            <a:r>
              <a:t>• в расчёт статистики включаются только заказы paid, shipped и delivered.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4800600"/>
            <a:ext cx="10607040" cy="4114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1800" b="0">
                <a:solidFill>
                  <a:srgbClr val="000000"/>
                </a:solidFill>
                <a:latin typeface="Times New Roman"/>
              </a:defRPr>
            </a:pPr>
            <a:r>
              <a:t>Хранимая функция объединяет orders, order_items и products; цена берётся из price_at_purchase, поэтому изменение текущей цены товара не меняет статистику уже оформленных заказов.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6556248"/>
            <a:ext cx="12191695" cy="1645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1000" b="0">
                <a:solidFill>
                  <a:srgbClr val="5A5A5A"/>
                </a:solidFill>
                <a:latin typeface="Times New Roman"/>
              </a:defRPr>
            </a:pPr>
            <a: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1155680" cy="53035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3200" b="0">
                <a:solidFill>
                  <a:srgbClr val="000000"/>
                </a:solidFill>
                <a:latin typeface="Times New Roman"/>
              </a:defRPr>
            </a:pPr>
            <a:r>
              <a:t>Реализация и Redis-кэширование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4343400" cy="2743200"/>
          </a:xfrm>
          <a:prstGeom prst="rect">
            <a:avLst/>
          </a:prstGeom>
          <a:noFill/>
        </p:spPr>
        <p:txBody>
          <a:bodyPr wrap="square" lIns="45720" rIns="27432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  <a:defRPr sz="1900">
                <a:solidFill>
                  <a:srgbClr val="000000"/>
                </a:solidFill>
                <a:latin typeface="Times New Roman"/>
              </a:defRPr>
            </a:pPr>
            <a:r>
              <a:t>• PostgreSQL 16.11 — основное хранилище данных;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900">
                <a:solidFill>
                  <a:srgbClr val="000000"/>
                </a:solidFill>
                <a:latin typeface="Times New Roman"/>
              </a:defRPr>
            </a:pPr>
            <a:r>
              <a:t>• Go 1.25.0 — REST API, серверный Web-интерфейс и бизнес-операции;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900">
                <a:solidFill>
                  <a:srgbClr val="000000"/>
                </a:solidFill>
                <a:latin typeface="Times New Roman"/>
              </a:defRPr>
            </a:pPr>
            <a:r>
              <a:t>• Redis 8.6 — in-memory хранилище для кэша и отозванных JWT-токенов;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900">
                <a:solidFill>
                  <a:srgbClr val="000000"/>
                </a:solidFill>
                <a:latin typeface="Times New Roman"/>
              </a:defRPr>
            </a:pPr>
            <a:r>
              <a:t>• кэширование реализовано по схеме Cache-Aside.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257800" y="1417320"/>
            <a:ext cx="6035040" cy="4069080"/>
          </a:xfrm>
          <a:prstGeom prst="rect">
            <a:avLst/>
          </a:prstGeom>
          <a:noFill/>
          <a:ln w="12700"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redis_intera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7800" y="1580997"/>
            <a:ext cx="6035040" cy="374172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5257800"/>
            <a:ext cx="10424160" cy="4572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2000" b="0">
                <a:solidFill>
                  <a:srgbClr val="000000"/>
                </a:solidFill>
                <a:latin typeface="Times New Roman"/>
              </a:defRPr>
            </a:pPr>
            <a:r>
              <a:t>PostgreSQL остаётся источником истины; Redis используется только для ускорения повторных чтений и проверки отозванных токенов.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6556248"/>
            <a:ext cx="12191695" cy="1645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1000" b="0">
                <a:solidFill>
                  <a:srgbClr val="5A5A5A"/>
                </a:solidFill>
                <a:latin typeface="Times New Roman"/>
              </a:defRPr>
            </a:pPr>
            <a:r>
              <a:t>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1155680" cy="53035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3200" b="0">
                <a:solidFill>
                  <a:srgbClr val="000000"/>
                </a:solidFill>
                <a:latin typeface="Times New Roman"/>
              </a:defRPr>
            </a:pPr>
            <a:r>
              <a:t>Исследование 1: наличие индексов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34440"/>
            <a:ext cx="10698480" cy="5486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1900" b="0">
                <a:solidFill>
                  <a:srgbClr val="000000"/>
                </a:solidFill>
                <a:latin typeface="Times New Roman"/>
              </a:defRPr>
            </a:pPr>
            <a:r>
              <a:t>Проверялись SQL-запросы: выборка каталога по диапазону цены, заказы покупателя, pending-заказы по дате, отзывы товара и вызов get_seller_statistics.</a:t>
            </a:r>
          </a:p>
        </p:txBody>
      </p:sp>
      <p:pic>
        <p:nvPicPr>
          <p:cNvPr id="6" name="Picture 5" descr="db_index_execution_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129125"/>
            <a:ext cx="6446520" cy="365130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60920" y="1965960"/>
            <a:ext cx="3886200" cy="2331720"/>
          </a:xfrm>
          <a:prstGeom prst="rect">
            <a:avLst/>
          </a:prstGeom>
          <a:noFill/>
        </p:spPr>
        <p:txBody>
          <a:bodyPr wrap="square" lIns="45720" rIns="27432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  <a:defRPr sz="1500">
                <a:solidFill>
                  <a:srgbClr val="000000"/>
                </a:solidFill>
                <a:latin typeface="Times New Roman"/>
              </a:defRPr>
            </a:pPr>
            <a:r>
              <a:t>• catalog_price_range: 9.351 мс без индекса и 0.073 мс с idx_products_price;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500">
                <a:solidFill>
                  <a:srgbClr val="000000"/>
                </a:solidFill>
                <a:latin typeface="Times New Roman"/>
              </a:defRPr>
            </a:pPr>
            <a:r>
              <a:t>• pending_orders_by_date: 11.252 мс без индекса и 0.394 мс с idx_orders_status_created_at;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500">
                <a:solidFill>
                  <a:srgbClr val="000000"/>
                </a:solidFill>
                <a:latin typeface="Times New Roman"/>
              </a:defRPr>
            </a:pPr>
            <a:r>
              <a:t>• для seller_statistics_function вторичные индексы миграций ускорения не дали.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60920" y="4828032"/>
            <a:ext cx="3931920" cy="4114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1600" b="0">
                <a:solidFill>
                  <a:srgbClr val="000000"/>
                </a:solidFill>
                <a:latin typeface="Times New Roman"/>
              </a:defRPr>
            </a:pPr>
            <a:r>
              <a:t>Вывод: индекс ускоряет выборку только при соответствии запросу.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6556248"/>
            <a:ext cx="12191695" cy="1645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1000" b="0">
                <a:solidFill>
                  <a:srgbClr val="5A5A5A"/>
                </a:solidFill>
                <a:latin typeface="Times New Roman"/>
              </a:defRPr>
            </a:pPr>
            <a:r>
              <a:t>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1155680" cy="53035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3200" b="0">
                <a:solidFill>
                  <a:srgbClr val="000000"/>
                </a:solidFill>
                <a:latin typeface="Times New Roman"/>
              </a:defRPr>
            </a:pPr>
            <a:r>
              <a:t>Исследование 1: тип индекса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170432"/>
            <a:ext cx="10698480" cy="6583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1800" b="0">
                <a:solidFill>
                  <a:srgbClr val="000000"/>
                </a:solidFill>
                <a:latin typeface="Times New Roman"/>
              </a:defRPr>
            </a:pPr>
            <a:r>
              <a:t>Сравнивались два случая на основном наборе из 40 000 товаров: заказы покупателя с сортировкой по дате (левый график) и подстрочный поиск товара по условию name ILIKE '%Zephyr%'. На правом графике число товаров меняется от 10 000 до 500 000.</a:t>
            </a:r>
          </a:p>
        </p:txBody>
      </p:sp>
      <p:pic>
        <p:nvPicPr>
          <p:cNvPr id="6" name="Picture 5" descr="db_index_type_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049719"/>
            <a:ext cx="5257800" cy="2978017"/>
          </a:xfrm>
          <a:prstGeom prst="rect">
            <a:avLst/>
          </a:prstGeom>
        </p:spPr>
      </p:pic>
      <p:pic>
        <p:nvPicPr>
          <p:cNvPr id="7" name="Picture 6" descr="db_scaling_m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2049719"/>
            <a:ext cx="5257800" cy="297801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2960" y="5230368"/>
            <a:ext cx="10332720" cy="777240"/>
          </a:xfrm>
          <a:prstGeom prst="rect">
            <a:avLst/>
          </a:prstGeom>
          <a:noFill/>
        </p:spPr>
        <p:txBody>
          <a:bodyPr wrap="square" lIns="45720" rIns="27432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  <a:defRPr sz="1400">
                <a:solidFill>
                  <a:srgbClr val="000000"/>
                </a:solidFill>
                <a:latin typeface="Times New Roman"/>
              </a:defRPr>
            </a:pPr>
            <a:r>
              <a:t>• составной индекс (user_id, created_at desc) устраняет Sort;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400">
                <a:solidFill>
                  <a:srgbClr val="000000"/>
                </a:solidFill>
                <a:latin typeface="Times New Roman"/>
              </a:defRPr>
            </a:pPr>
            <a:r>
              <a:t>• без индекса по name поиск '%Zephyr%' идёт через Seq Scan по всей таблице (~25 мс на 40 000 товаров);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400">
                <a:solidFill>
                  <a:srgbClr val="000000"/>
                </a:solidFill>
                <a:latin typeface="Times New Roman"/>
              </a:defRPr>
            </a:pPr>
            <a:r>
              <a:t>• GIN + pg_trgm (триграммы) обслуживает поиск через Bitmap Heap Scan и почти не зависит от размера таблицы.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6556248"/>
            <a:ext cx="12191695" cy="1645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1000" b="0">
                <a:solidFill>
                  <a:srgbClr val="5A5A5A"/>
                </a:solidFill>
                <a:latin typeface="Times New Roman"/>
              </a:defRPr>
            </a:pPr>
            <a:r>
              <a:t>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1155680" cy="53035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3200" b="0">
                <a:solidFill>
                  <a:srgbClr val="000000"/>
                </a:solidFill>
                <a:latin typeface="Times New Roman"/>
              </a:defRPr>
            </a:pPr>
            <a:r>
              <a:t>Исследование 2: влияние Redis-кэша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170432"/>
            <a:ext cx="10698480" cy="7772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1800" b="0">
                <a:solidFill>
                  <a:srgbClr val="000000"/>
                </a:solidFill>
                <a:latin typeface="Times New Roman"/>
              </a:defRPr>
            </a:pPr>
            <a:r>
              <a:t>Нагрузка подавалась на четыре GET-маршрута чтения: карточка товара (/products/{id}), каталог (/products, 12 товаров на странице), отзывы товара (/products/{id}/reviews, 10 отзывов на странице) и список категорий (/categories). На каждый маршрут — 300 запросов, до 12 одновременно.</a:t>
            </a:r>
          </a:p>
        </p:txBody>
      </p:sp>
      <p:pic>
        <p:nvPicPr>
          <p:cNvPr id="6" name="Picture 5" descr="http_cache_latency_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083405"/>
            <a:ext cx="6446520" cy="365130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60920" y="2057400"/>
            <a:ext cx="3886200" cy="2331720"/>
          </a:xfrm>
          <a:prstGeom prst="rect">
            <a:avLst/>
          </a:prstGeom>
          <a:noFill/>
        </p:spPr>
        <p:txBody>
          <a:bodyPr wrap="square" lIns="45720" rIns="27432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  <a:defRPr sz="1500">
                <a:solidFill>
                  <a:srgbClr val="000000"/>
                </a:solidFill>
                <a:latin typeface="Times New Roman"/>
              </a:defRPr>
            </a:pPr>
            <a:r>
              <a:t>• сравнивались сценарии Redis отключён и Redis включён с прогретым кэшем;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500">
                <a:solidFill>
                  <a:srgbClr val="000000"/>
                </a:solidFill>
                <a:latin typeface="Times New Roman"/>
              </a:defRPr>
            </a:pPr>
            <a:r>
              <a:t>• карточка товара: среднее время 2.256 мс без Redis и 0.965 мс с прогретым кэшем;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500">
                <a:solidFill>
                  <a:srgbClr val="000000"/>
                </a:solidFill>
                <a:latin typeface="Times New Roman"/>
              </a:defRPr>
            </a:pPr>
            <a:r>
              <a:t>• при прогретом кэше зафиксировано 1500 попаданий Redis и 0 строк PostgreSQL.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60920" y="4800600"/>
            <a:ext cx="388620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1600" b="0">
                <a:solidFill>
                  <a:srgbClr val="000000"/>
                </a:solidFill>
                <a:latin typeface="Times New Roman"/>
              </a:defRPr>
            </a:pPr>
            <a:r>
              <a:t>Вывод: прогретый кэш снижает время ответа и число обращений к PostgreSQL.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6556248"/>
            <a:ext cx="12191695" cy="1645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1000" b="0">
                <a:solidFill>
                  <a:srgbClr val="5A5A5A"/>
                </a:solidFill>
                <a:latin typeface="Times New Roman"/>
              </a:defRPr>
            </a:pPr>
            <a:r>
              <a:t>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1155680" cy="53035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3200" b="0">
                <a:solidFill>
                  <a:srgbClr val="000000"/>
                </a:solidFill>
                <a:latin typeface="Times New Roman"/>
              </a:defRPr>
            </a:pPr>
            <a:r>
              <a:t>Заключение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417320"/>
            <a:ext cx="10241280" cy="3246120"/>
          </a:xfrm>
          <a:prstGeom prst="rect">
            <a:avLst/>
          </a:prstGeom>
          <a:noFill/>
        </p:spPr>
        <p:txBody>
          <a:bodyPr wrap="square" lIns="45720" rIns="27432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  <a:defRPr sz="2200">
                <a:solidFill>
                  <a:srgbClr val="000000"/>
                </a:solidFill>
                <a:latin typeface="Times New Roman"/>
              </a:defRPr>
            </a:pPr>
            <a:r>
              <a:t>• разработана база данных онлайн-маркетплейса и приложение доступа к ней;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2200">
                <a:solidFill>
                  <a:srgbClr val="000000"/>
                </a:solidFill>
                <a:latin typeface="Times New Roman"/>
              </a:defRPr>
            </a:pPr>
            <a:r>
              <a:t>• спроектированы сущности, связи, ограничения целостности и ролевая модель доступа;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2200">
                <a:solidFill>
                  <a:srgbClr val="000000"/>
                </a:solidFill>
                <a:latin typeface="Times New Roman"/>
              </a:defRPr>
            </a:pPr>
            <a:r>
              <a:t>• реализованы триггеры журнала изменения цен и пересчёта рейтингов;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2200">
                <a:solidFill>
                  <a:srgbClr val="000000"/>
                </a:solidFill>
                <a:latin typeface="Times New Roman"/>
              </a:defRPr>
            </a:pPr>
            <a:r>
              <a:t>• реализована хранимая функция статистики продаж продавца;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2200">
                <a:solidFill>
                  <a:srgbClr val="000000"/>
                </a:solidFill>
                <a:latin typeface="Times New Roman"/>
              </a:defRPr>
            </a:pPr>
            <a:r>
              <a:t>• исследованы индексы PostgreSQL и Redis-кэширование как способы ускорения чтения данных.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5212080"/>
            <a:ext cx="10241280" cy="6400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2200" b="0">
                <a:solidFill>
                  <a:srgbClr val="000000"/>
                </a:solidFill>
                <a:latin typeface="Times New Roman"/>
              </a:defRPr>
            </a:pPr>
            <a:r>
              <a:t>Итог исследования: индексы дают эффект при соответствии запросу, а Redis-кэш снижает время HTTP-ответа за счёт обслуживания повторных чтений из памяти.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